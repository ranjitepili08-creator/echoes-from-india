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94885"/>
            <a:ext cx="8229600" cy="50682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9004" y="2149397"/>
            <a:ext cx="2207941" cy="1154151"/>
          </a:xfrm>
          <a:custGeom>
            <a:avLst/>
            <a:gdLst/>
            <a:ahLst/>
            <a:cxnLst/>
            <a:rect l="0" t="0" r="0" b="0"/>
            <a:pathLst>
              <a:path w="2207941" h="1154151">
                <a:moveTo>
                  <a:pt x="0" y="150541"/>
                </a:moveTo>
                <a:lnTo>
                  <a:pt x="0" y="1154151"/>
                </a:lnTo>
                <a:moveTo>
                  <a:pt x="2207941" y="150541"/>
                </a:moveTo>
                <a:lnTo>
                  <a:pt x="2207941" y="1154151"/>
                </a:lnTo>
                <a:moveTo>
                  <a:pt x="2207941" y="150541"/>
                </a:moveTo>
                <a:lnTo>
                  <a:pt x="2207941" y="133814"/>
                </a:lnTo>
                <a:cubicBezTo>
                  <a:pt x="2207941" y="59910"/>
                  <a:pt x="2139767" y="0"/>
                  <a:pt x="2055669" y="0"/>
                </a:cubicBezTo>
                <a:lnTo>
                  <a:pt x="152271" y="0"/>
                </a:lnTo>
                <a:cubicBezTo>
                  <a:pt x="68174" y="0"/>
                  <a:pt x="0" y="59910"/>
                  <a:pt x="0" y="133814"/>
                </a:cubicBezTo>
                <a:lnTo>
                  <a:pt x="0" y="150541"/>
                </a:lnTo>
              </a:path>
            </a:pathLst>
          </a:custGeom>
          <a:noFill/>
          <a:ln w="1254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858643" y="2450480"/>
            <a:ext cx="853068" cy="702526"/>
            <a:chOff x="401443" y="1555595"/>
            <a:chExt cx="853068" cy="702526"/>
          </a:xfrm>
        </p:grpSpPr>
        <p:sp>
          <p:nvSpPr>
            <p:cNvPr id="4" name="Rounded Rectangle 3"/>
            <p:cNvSpPr/>
            <p:nvPr/>
          </p:nvSpPr>
          <p:spPr>
            <a:xfrm>
              <a:off x="501804" y="1555595"/>
              <a:ext cx="752707" cy="702526"/>
            </a:xfrm>
            <a:custGeom>
              <a:avLst/>
              <a:gdLst/>
              <a:ahLst/>
              <a:cxnLst/>
              <a:rect l="0" t="0" r="0" b="0"/>
              <a:pathLst>
                <a:path w="752707" h="702526">
                  <a:moveTo>
                    <a:pt x="501804" y="0"/>
                  </a:moveTo>
                  <a:lnTo>
                    <a:pt x="752707" y="351263"/>
                  </a:lnTo>
                  <a:lnTo>
                    <a:pt x="501804" y="702526"/>
                  </a:lnTo>
                  <a:lnTo>
                    <a:pt x="501804" y="602165"/>
                  </a:lnTo>
                  <a:lnTo>
                    <a:pt x="0" y="602165"/>
                  </a:lnTo>
                  <a:lnTo>
                    <a:pt x="0" y="100360"/>
                  </a:lnTo>
                  <a:lnTo>
                    <a:pt x="501804" y="100360"/>
                  </a:lnTo>
                  <a:lnTo>
                    <a:pt x="501804" y="0"/>
                  </a:lnTo>
                </a:path>
              </a:pathLst>
            </a:custGeom>
            <a:solidFill>
              <a:srgbClr val="4E88E7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01443" y="1655956"/>
              <a:ext cx="100360" cy="568712"/>
            </a:xfrm>
            <a:custGeom>
              <a:avLst/>
              <a:gdLst/>
              <a:ahLst/>
              <a:cxnLst/>
              <a:rect l="0" t="0" r="0" b="0"/>
              <a:pathLst>
                <a:path w="100360" h="568712">
                  <a:moveTo>
                    <a:pt x="0" y="33453"/>
                  </a:moveTo>
                  <a:cubicBezTo>
                    <a:pt x="0" y="14978"/>
                    <a:pt x="14978" y="0"/>
                    <a:pt x="33453" y="0"/>
                  </a:cubicBezTo>
                  <a:lnTo>
                    <a:pt x="100360" y="0"/>
                  </a:lnTo>
                  <a:lnTo>
                    <a:pt x="100360" y="568712"/>
                  </a:lnTo>
                  <a:lnTo>
                    <a:pt x="33453" y="568712"/>
                  </a:lnTo>
                  <a:cubicBezTo>
                    <a:pt x="14978" y="568712"/>
                    <a:pt x="0" y="553733"/>
                    <a:pt x="0" y="535258"/>
                  </a:cubicBezTo>
                  <a:lnTo>
                    <a:pt x="0" y="33453"/>
                  </a:lnTo>
                </a:path>
              </a:pathLst>
            </a:custGeom>
            <a:solidFill>
              <a:srgbClr val="4E88E7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58643" y="2450480"/>
            <a:ext cx="853068" cy="702526"/>
            <a:chOff x="401443" y="1555595"/>
            <a:chExt cx="853068" cy="702526"/>
          </a:xfrm>
        </p:grpSpPr>
        <p:sp>
          <p:nvSpPr>
            <p:cNvPr id="7" name="Rounded Rectangle 6"/>
            <p:cNvSpPr/>
            <p:nvPr/>
          </p:nvSpPr>
          <p:spPr>
            <a:xfrm>
              <a:off x="501804" y="1555595"/>
              <a:ext cx="752707" cy="702526"/>
            </a:xfrm>
            <a:custGeom>
              <a:avLst/>
              <a:gdLst/>
              <a:ahLst/>
              <a:cxnLst/>
              <a:rect l="0" t="0" r="0" b="0"/>
              <a:pathLst>
                <a:path w="752707" h="702526">
                  <a:moveTo>
                    <a:pt x="0" y="100360"/>
                  </a:moveTo>
                  <a:lnTo>
                    <a:pt x="501804" y="100360"/>
                  </a:lnTo>
                  <a:moveTo>
                    <a:pt x="501804" y="100360"/>
                  </a:moveTo>
                  <a:lnTo>
                    <a:pt x="501804" y="0"/>
                  </a:lnTo>
                  <a:lnTo>
                    <a:pt x="752707" y="351263"/>
                  </a:lnTo>
                  <a:lnTo>
                    <a:pt x="501804" y="702526"/>
                  </a:lnTo>
                  <a:lnTo>
                    <a:pt x="501804" y="602165"/>
                  </a:lnTo>
                  <a:moveTo>
                    <a:pt x="501804" y="100360"/>
                  </a:moveTo>
                  <a:lnTo>
                    <a:pt x="443260" y="100360"/>
                  </a:lnTo>
                  <a:moveTo>
                    <a:pt x="501804" y="602165"/>
                  </a:moveTo>
                  <a:lnTo>
                    <a:pt x="0" y="602165"/>
                  </a:lnTo>
                  <a:moveTo>
                    <a:pt x="443260" y="602165"/>
                  </a:moveTo>
                  <a:lnTo>
                    <a:pt x="501804" y="602165"/>
                  </a:lnTo>
                </a:path>
              </a:pathLst>
            </a:custGeom>
            <a:noFill/>
            <a:ln w="12544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01443" y="1655956"/>
              <a:ext cx="100360" cy="568712"/>
            </a:xfrm>
            <a:custGeom>
              <a:avLst/>
              <a:gdLst/>
              <a:ahLst/>
              <a:cxnLst/>
              <a:rect l="0" t="0" r="0" b="0"/>
              <a:pathLst>
                <a:path w="100360" h="568712">
                  <a:moveTo>
                    <a:pt x="0" y="535258"/>
                  </a:moveTo>
                  <a:cubicBezTo>
                    <a:pt x="0" y="516782"/>
                    <a:pt x="14978" y="501804"/>
                    <a:pt x="33453" y="501804"/>
                  </a:cubicBezTo>
                  <a:lnTo>
                    <a:pt x="100360" y="501804"/>
                  </a:lnTo>
                  <a:lnTo>
                    <a:pt x="100360" y="568712"/>
                  </a:lnTo>
                  <a:lnTo>
                    <a:pt x="33453" y="568712"/>
                  </a:lnTo>
                  <a:cubicBezTo>
                    <a:pt x="14978" y="568712"/>
                    <a:pt x="0" y="553734"/>
                    <a:pt x="0" y="535258"/>
                  </a:cubicBezTo>
                  <a:close/>
                  <a:moveTo>
                    <a:pt x="100360" y="0"/>
                  </a:moveTo>
                  <a:lnTo>
                    <a:pt x="33453" y="0"/>
                  </a:lnTo>
                  <a:cubicBezTo>
                    <a:pt x="14978" y="0"/>
                    <a:pt x="0" y="14978"/>
                    <a:pt x="0" y="33453"/>
                  </a:cubicBezTo>
                  <a:lnTo>
                    <a:pt x="0" y="535258"/>
                  </a:lnTo>
                  <a:cubicBezTo>
                    <a:pt x="0" y="553734"/>
                    <a:pt x="14978" y="568712"/>
                    <a:pt x="33453" y="568712"/>
                  </a:cubicBezTo>
                  <a:lnTo>
                    <a:pt x="100360" y="568712"/>
                  </a:lnTo>
                </a:path>
              </a:pathLst>
            </a:custGeom>
            <a:noFill/>
            <a:ln w="12544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3468029" y="2149397"/>
            <a:ext cx="2207941" cy="1154151"/>
          </a:xfrm>
          <a:custGeom>
            <a:avLst/>
            <a:gdLst/>
            <a:ahLst/>
            <a:cxnLst/>
            <a:rect l="0" t="0" r="0" b="0"/>
            <a:pathLst>
              <a:path w="2207941" h="1154151">
                <a:moveTo>
                  <a:pt x="0" y="150541"/>
                </a:moveTo>
                <a:lnTo>
                  <a:pt x="0" y="1154151"/>
                </a:lnTo>
                <a:moveTo>
                  <a:pt x="2207941" y="150541"/>
                </a:moveTo>
                <a:lnTo>
                  <a:pt x="2207941" y="1154151"/>
                </a:lnTo>
                <a:moveTo>
                  <a:pt x="2207941" y="150541"/>
                </a:moveTo>
                <a:lnTo>
                  <a:pt x="2207941" y="133814"/>
                </a:lnTo>
                <a:cubicBezTo>
                  <a:pt x="2207941" y="59910"/>
                  <a:pt x="2139767" y="0"/>
                  <a:pt x="2055669" y="0"/>
                </a:cubicBezTo>
                <a:lnTo>
                  <a:pt x="152271" y="0"/>
                </a:lnTo>
                <a:cubicBezTo>
                  <a:pt x="68174" y="0"/>
                  <a:pt x="0" y="59910"/>
                  <a:pt x="0" y="133814"/>
                </a:cubicBezTo>
                <a:lnTo>
                  <a:pt x="0" y="150541"/>
                </a:lnTo>
              </a:path>
            </a:pathLst>
          </a:custGeom>
          <a:noFill/>
          <a:ln w="1254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3367668" y="2450480"/>
            <a:ext cx="853068" cy="702526"/>
            <a:chOff x="2910468" y="1555595"/>
            <a:chExt cx="853068" cy="702526"/>
          </a:xfrm>
        </p:grpSpPr>
        <p:sp>
          <p:nvSpPr>
            <p:cNvPr id="11" name="Rounded Rectangle 10"/>
            <p:cNvSpPr/>
            <p:nvPr/>
          </p:nvSpPr>
          <p:spPr>
            <a:xfrm>
              <a:off x="3010829" y="1555595"/>
              <a:ext cx="752707" cy="702526"/>
            </a:xfrm>
            <a:custGeom>
              <a:avLst/>
              <a:gdLst/>
              <a:ahLst/>
              <a:cxnLst/>
              <a:rect l="0" t="0" r="0" b="0"/>
              <a:pathLst>
                <a:path w="752707" h="702526">
                  <a:moveTo>
                    <a:pt x="501804" y="0"/>
                  </a:moveTo>
                  <a:lnTo>
                    <a:pt x="752707" y="351263"/>
                  </a:lnTo>
                  <a:lnTo>
                    <a:pt x="501804" y="702526"/>
                  </a:lnTo>
                  <a:lnTo>
                    <a:pt x="501804" y="602165"/>
                  </a:lnTo>
                  <a:lnTo>
                    <a:pt x="0" y="602165"/>
                  </a:lnTo>
                  <a:lnTo>
                    <a:pt x="0" y="100360"/>
                  </a:lnTo>
                  <a:lnTo>
                    <a:pt x="501804" y="100360"/>
                  </a:lnTo>
                  <a:lnTo>
                    <a:pt x="501804" y="0"/>
                  </a:lnTo>
                </a:path>
              </a:pathLst>
            </a:custGeom>
            <a:solidFill>
              <a:srgbClr val="BA5DE5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10468" y="1655956"/>
              <a:ext cx="100360" cy="568712"/>
            </a:xfrm>
            <a:custGeom>
              <a:avLst/>
              <a:gdLst/>
              <a:ahLst/>
              <a:cxnLst/>
              <a:rect l="0" t="0" r="0" b="0"/>
              <a:pathLst>
                <a:path w="100360" h="568712">
                  <a:moveTo>
                    <a:pt x="0" y="33453"/>
                  </a:moveTo>
                  <a:cubicBezTo>
                    <a:pt x="0" y="14978"/>
                    <a:pt x="14978" y="0"/>
                    <a:pt x="33453" y="0"/>
                  </a:cubicBezTo>
                  <a:lnTo>
                    <a:pt x="100360" y="0"/>
                  </a:lnTo>
                  <a:lnTo>
                    <a:pt x="100360" y="568712"/>
                  </a:lnTo>
                  <a:lnTo>
                    <a:pt x="33453" y="568712"/>
                  </a:lnTo>
                  <a:cubicBezTo>
                    <a:pt x="14978" y="568712"/>
                    <a:pt x="0" y="553733"/>
                    <a:pt x="0" y="535258"/>
                  </a:cubicBezTo>
                  <a:lnTo>
                    <a:pt x="0" y="33453"/>
                  </a:lnTo>
                </a:path>
              </a:pathLst>
            </a:custGeom>
            <a:solidFill>
              <a:srgbClr val="BA5DE5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67668" y="2450480"/>
            <a:ext cx="853068" cy="702526"/>
            <a:chOff x="2910468" y="1555595"/>
            <a:chExt cx="853068" cy="702526"/>
          </a:xfrm>
        </p:grpSpPr>
        <p:sp>
          <p:nvSpPr>
            <p:cNvPr id="14" name="Rounded Rectangle 13"/>
            <p:cNvSpPr/>
            <p:nvPr/>
          </p:nvSpPr>
          <p:spPr>
            <a:xfrm>
              <a:off x="3010829" y="1555595"/>
              <a:ext cx="752707" cy="702526"/>
            </a:xfrm>
            <a:custGeom>
              <a:avLst/>
              <a:gdLst/>
              <a:ahLst/>
              <a:cxnLst/>
              <a:rect l="0" t="0" r="0" b="0"/>
              <a:pathLst>
                <a:path w="752707" h="702526">
                  <a:moveTo>
                    <a:pt x="0" y="100360"/>
                  </a:moveTo>
                  <a:lnTo>
                    <a:pt x="501804" y="100360"/>
                  </a:lnTo>
                  <a:moveTo>
                    <a:pt x="501804" y="100360"/>
                  </a:moveTo>
                  <a:lnTo>
                    <a:pt x="501804" y="0"/>
                  </a:lnTo>
                  <a:lnTo>
                    <a:pt x="752707" y="351263"/>
                  </a:lnTo>
                  <a:lnTo>
                    <a:pt x="501804" y="702526"/>
                  </a:lnTo>
                  <a:lnTo>
                    <a:pt x="501804" y="602165"/>
                  </a:lnTo>
                  <a:moveTo>
                    <a:pt x="501804" y="100360"/>
                  </a:moveTo>
                  <a:lnTo>
                    <a:pt x="443260" y="100360"/>
                  </a:lnTo>
                  <a:moveTo>
                    <a:pt x="501804" y="602165"/>
                  </a:moveTo>
                  <a:lnTo>
                    <a:pt x="0" y="602165"/>
                  </a:lnTo>
                  <a:moveTo>
                    <a:pt x="443260" y="602165"/>
                  </a:moveTo>
                  <a:lnTo>
                    <a:pt x="501804" y="602165"/>
                  </a:lnTo>
                </a:path>
              </a:pathLst>
            </a:custGeom>
            <a:noFill/>
            <a:ln w="12544">
              <a:solidFill>
                <a:srgbClr val="BA5DE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910468" y="1655956"/>
              <a:ext cx="100360" cy="568712"/>
            </a:xfrm>
            <a:custGeom>
              <a:avLst/>
              <a:gdLst/>
              <a:ahLst/>
              <a:cxnLst/>
              <a:rect l="0" t="0" r="0" b="0"/>
              <a:pathLst>
                <a:path w="100360" h="568712">
                  <a:moveTo>
                    <a:pt x="0" y="535258"/>
                  </a:moveTo>
                  <a:cubicBezTo>
                    <a:pt x="0" y="516782"/>
                    <a:pt x="14978" y="501804"/>
                    <a:pt x="33453" y="501804"/>
                  </a:cubicBezTo>
                  <a:lnTo>
                    <a:pt x="100360" y="501804"/>
                  </a:lnTo>
                  <a:lnTo>
                    <a:pt x="100360" y="568712"/>
                  </a:lnTo>
                  <a:lnTo>
                    <a:pt x="33453" y="568712"/>
                  </a:lnTo>
                  <a:cubicBezTo>
                    <a:pt x="14978" y="568712"/>
                    <a:pt x="0" y="553734"/>
                    <a:pt x="0" y="535258"/>
                  </a:cubicBezTo>
                  <a:close/>
                  <a:moveTo>
                    <a:pt x="100360" y="0"/>
                  </a:moveTo>
                  <a:lnTo>
                    <a:pt x="33453" y="0"/>
                  </a:lnTo>
                  <a:cubicBezTo>
                    <a:pt x="14978" y="0"/>
                    <a:pt x="0" y="14978"/>
                    <a:pt x="0" y="33453"/>
                  </a:cubicBezTo>
                  <a:lnTo>
                    <a:pt x="0" y="535258"/>
                  </a:lnTo>
                  <a:cubicBezTo>
                    <a:pt x="0" y="553734"/>
                    <a:pt x="14978" y="568712"/>
                    <a:pt x="33453" y="568712"/>
                  </a:cubicBezTo>
                  <a:lnTo>
                    <a:pt x="100360" y="568712"/>
                  </a:lnTo>
                </a:path>
              </a:pathLst>
            </a:custGeom>
            <a:noFill/>
            <a:ln w="12544">
              <a:solidFill>
                <a:srgbClr val="BA5DE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5977053" y="2149397"/>
            <a:ext cx="2207941" cy="1154151"/>
          </a:xfrm>
          <a:custGeom>
            <a:avLst/>
            <a:gdLst/>
            <a:ahLst/>
            <a:cxnLst/>
            <a:rect l="0" t="0" r="0" b="0"/>
            <a:pathLst>
              <a:path w="2207941" h="1154151">
                <a:moveTo>
                  <a:pt x="0" y="150541"/>
                </a:moveTo>
                <a:lnTo>
                  <a:pt x="0" y="1154151"/>
                </a:lnTo>
                <a:moveTo>
                  <a:pt x="2207941" y="150541"/>
                </a:moveTo>
                <a:lnTo>
                  <a:pt x="2207941" y="1154151"/>
                </a:lnTo>
                <a:moveTo>
                  <a:pt x="2207941" y="150541"/>
                </a:moveTo>
                <a:lnTo>
                  <a:pt x="2207941" y="133814"/>
                </a:lnTo>
                <a:cubicBezTo>
                  <a:pt x="2207941" y="59910"/>
                  <a:pt x="2139767" y="0"/>
                  <a:pt x="2055669" y="0"/>
                </a:cubicBezTo>
                <a:lnTo>
                  <a:pt x="152271" y="0"/>
                </a:lnTo>
                <a:cubicBezTo>
                  <a:pt x="68174" y="0"/>
                  <a:pt x="0" y="59910"/>
                  <a:pt x="0" y="133814"/>
                </a:cubicBezTo>
                <a:lnTo>
                  <a:pt x="0" y="150541"/>
                </a:lnTo>
              </a:path>
            </a:pathLst>
          </a:custGeom>
          <a:noFill/>
          <a:ln w="1254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" name="Group 19"/>
          <p:cNvGrpSpPr/>
          <p:nvPr/>
        </p:nvGrpSpPr>
        <p:grpSpPr>
          <a:xfrm>
            <a:off x="5876692" y="2450480"/>
            <a:ext cx="853068" cy="702526"/>
            <a:chOff x="5419492" y="1555595"/>
            <a:chExt cx="853068" cy="702526"/>
          </a:xfrm>
        </p:grpSpPr>
        <p:sp>
          <p:nvSpPr>
            <p:cNvPr id="18" name="Rounded Rectangle 17"/>
            <p:cNvSpPr/>
            <p:nvPr/>
          </p:nvSpPr>
          <p:spPr>
            <a:xfrm>
              <a:off x="5519853" y="1555595"/>
              <a:ext cx="752707" cy="702526"/>
            </a:xfrm>
            <a:custGeom>
              <a:avLst/>
              <a:gdLst/>
              <a:ahLst/>
              <a:cxnLst/>
              <a:rect l="0" t="0" r="0" b="0"/>
              <a:pathLst>
                <a:path w="752707" h="702526">
                  <a:moveTo>
                    <a:pt x="501804" y="0"/>
                  </a:moveTo>
                  <a:lnTo>
                    <a:pt x="752707" y="351263"/>
                  </a:lnTo>
                  <a:lnTo>
                    <a:pt x="501804" y="702526"/>
                  </a:lnTo>
                  <a:lnTo>
                    <a:pt x="501804" y="602165"/>
                  </a:lnTo>
                  <a:lnTo>
                    <a:pt x="0" y="602165"/>
                  </a:lnTo>
                  <a:lnTo>
                    <a:pt x="0" y="100360"/>
                  </a:lnTo>
                  <a:lnTo>
                    <a:pt x="501804" y="100360"/>
                  </a:lnTo>
                  <a:lnTo>
                    <a:pt x="501804" y="0"/>
                  </a:lnTo>
                </a:path>
              </a:pathLst>
            </a:custGeom>
            <a:solidFill>
              <a:srgbClr val="DE58A9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419492" y="1655956"/>
              <a:ext cx="100360" cy="568712"/>
            </a:xfrm>
            <a:custGeom>
              <a:avLst/>
              <a:gdLst/>
              <a:ahLst/>
              <a:cxnLst/>
              <a:rect l="0" t="0" r="0" b="0"/>
              <a:pathLst>
                <a:path w="100360" h="568712">
                  <a:moveTo>
                    <a:pt x="0" y="33453"/>
                  </a:moveTo>
                  <a:cubicBezTo>
                    <a:pt x="0" y="14978"/>
                    <a:pt x="14978" y="0"/>
                    <a:pt x="33453" y="0"/>
                  </a:cubicBezTo>
                  <a:lnTo>
                    <a:pt x="100360" y="0"/>
                  </a:lnTo>
                  <a:lnTo>
                    <a:pt x="100360" y="568712"/>
                  </a:lnTo>
                  <a:lnTo>
                    <a:pt x="33453" y="568712"/>
                  </a:lnTo>
                  <a:cubicBezTo>
                    <a:pt x="14978" y="568712"/>
                    <a:pt x="0" y="553733"/>
                    <a:pt x="0" y="535258"/>
                  </a:cubicBezTo>
                  <a:lnTo>
                    <a:pt x="0" y="33453"/>
                  </a:lnTo>
                </a:path>
              </a:pathLst>
            </a:custGeom>
            <a:solidFill>
              <a:srgbClr val="DE58A9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876692" y="2450480"/>
            <a:ext cx="853068" cy="702526"/>
            <a:chOff x="5419492" y="1555595"/>
            <a:chExt cx="853068" cy="702526"/>
          </a:xfrm>
        </p:grpSpPr>
        <p:sp>
          <p:nvSpPr>
            <p:cNvPr id="21" name="Rounded Rectangle 20"/>
            <p:cNvSpPr/>
            <p:nvPr/>
          </p:nvSpPr>
          <p:spPr>
            <a:xfrm>
              <a:off x="5519853" y="1555595"/>
              <a:ext cx="752707" cy="702526"/>
            </a:xfrm>
            <a:custGeom>
              <a:avLst/>
              <a:gdLst/>
              <a:ahLst/>
              <a:cxnLst/>
              <a:rect l="0" t="0" r="0" b="0"/>
              <a:pathLst>
                <a:path w="752707" h="702526">
                  <a:moveTo>
                    <a:pt x="0" y="100360"/>
                  </a:moveTo>
                  <a:lnTo>
                    <a:pt x="501804" y="100360"/>
                  </a:lnTo>
                  <a:moveTo>
                    <a:pt x="501804" y="100360"/>
                  </a:moveTo>
                  <a:lnTo>
                    <a:pt x="501804" y="0"/>
                  </a:lnTo>
                  <a:lnTo>
                    <a:pt x="752707" y="351263"/>
                  </a:lnTo>
                  <a:lnTo>
                    <a:pt x="501804" y="702526"/>
                  </a:lnTo>
                  <a:lnTo>
                    <a:pt x="501804" y="602165"/>
                  </a:lnTo>
                  <a:moveTo>
                    <a:pt x="501804" y="100360"/>
                  </a:moveTo>
                  <a:lnTo>
                    <a:pt x="443260" y="100360"/>
                  </a:lnTo>
                  <a:moveTo>
                    <a:pt x="501804" y="602165"/>
                  </a:moveTo>
                  <a:lnTo>
                    <a:pt x="0" y="602165"/>
                  </a:lnTo>
                  <a:moveTo>
                    <a:pt x="443260" y="602165"/>
                  </a:moveTo>
                  <a:lnTo>
                    <a:pt x="501804" y="602165"/>
                  </a:lnTo>
                </a:path>
              </a:pathLst>
            </a:custGeom>
            <a:noFill/>
            <a:ln w="12544">
              <a:solidFill>
                <a:srgbClr val="DE58A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419492" y="1655956"/>
              <a:ext cx="100360" cy="568712"/>
            </a:xfrm>
            <a:custGeom>
              <a:avLst/>
              <a:gdLst/>
              <a:ahLst/>
              <a:cxnLst/>
              <a:rect l="0" t="0" r="0" b="0"/>
              <a:pathLst>
                <a:path w="100360" h="568712">
                  <a:moveTo>
                    <a:pt x="0" y="535258"/>
                  </a:moveTo>
                  <a:cubicBezTo>
                    <a:pt x="0" y="516782"/>
                    <a:pt x="14978" y="501804"/>
                    <a:pt x="33453" y="501804"/>
                  </a:cubicBezTo>
                  <a:lnTo>
                    <a:pt x="100360" y="501804"/>
                  </a:lnTo>
                  <a:lnTo>
                    <a:pt x="100360" y="568712"/>
                  </a:lnTo>
                  <a:lnTo>
                    <a:pt x="33453" y="568712"/>
                  </a:lnTo>
                  <a:cubicBezTo>
                    <a:pt x="14978" y="568712"/>
                    <a:pt x="0" y="553734"/>
                    <a:pt x="0" y="535258"/>
                  </a:cubicBezTo>
                  <a:close/>
                  <a:moveTo>
                    <a:pt x="100360" y="0"/>
                  </a:moveTo>
                  <a:lnTo>
                    <a:pt x="33453" y="0"/>
                  </a:lnTo>
                  <a:cubicBezTo>
                    <a:pt x="14978" y="0"/>
                    <a:pt x="0" y="14978"/>
                    <a:pt x="0" y="33453"/>
                  </a:cubicBezTo>
                  <a:lnTo>
                    <a:pt x="0" y="535258"/>
                  </a:lnTo>
                  <a:cubicBezTo>
                    <a:pt x="0" y="553734"/>
                    <a:pt x="14978" y="568712"/>
                    <a:pt x="33453" y="568712"/>
                  </a:cubicBezTo>
                  <a:lnTo>
                    <a:pt x="100360" y="568712"/>
                  </a:lnTo>
                </a:path>
              </a:pathLst>
            </a:custGeom>
            <a:noFill/>
            <a:ln w="12544">
              <a:solidFill>
                <a:srgbClr val="DE58A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959004" y="3303548"/>
            <a:ext cx="2207941" cy="2007219"/>
          </a:xfrm>
          <a:custGeom>
            <a:avLst/>
            <a:gdLst/>
            <a:ahLst/>
            <a:cxnLst/>
            <a:rect l="0" t="0" r="0" b="0"/>
            <a:pathLst>
              <a:path w="2207941" h="2007219">
                <a:moveTo>
                  <a:pt x="2207941" y="0"/>
                </a:moveTo>
                <a:lnTo>
                  <a:pt x="2207941" y="1856678"/>
                </a:lnTo>
                <a:moveTo>
                  <a:pt x="0" y="1856678"/>
                </a:moveTo>
                <a:lnTo>
                  <a:pt x="0" y="0"/>
                </a:lnTo>
                <a:moveTo>
                  <a:pt x="2207941" y="1856678"/>
                </a:moveTo>
                <a:lnTo>
                  <a:pt x="2207941" y="1873404"/>
                </a:lnTo>
                <a:cubicBezTo>
                  <a:pt x="2207941" y="1947309"/>
                  <a:pt x="2139767" y="2007219"/>
                  <a:pt x="2055669" y="2007219"/>
                </a:cubicBezTo>
                <a:lnTo>
                  <a:pt x="152271" y="2007219"/>
                </a:lnTo>
                <a:cubicBezTo>
                  <a:pt x="68174" y="2007219"/>
                  <a:pt x="0" y="1947309"/>
                  <a:pt x="0" y="1873404"/>
                </a:cubicBezTo>
                <a:lnTo>
                  <a:pt x="0" y="1856678"/>
                </a:lnTo>
              </a:path>
            </a:pathLst>
          </a:custGeom>
          <a:noFill/>
          <a:ln w="1254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68029" y="3303548"/>
            <a:ext cx="2207941" cy="2007219"/>
          </a:xfrm>
          <a:custGeom>
            <a:avLst/>
            <a:gdLst/>
            <a:ahLst/>
            <a:cxnLst/>
            <a:rect l="0" t="0" r="0" b="0"/>
            <a:pathLst>
              <a:path w="2207941" h="2007219">
                <a:moveTo>
                  <a:pt x="2207941" y="0"/>
                </a:moveTo>
                <a:lnTo>
                  <a:pt x="2207941" y="1856678"/>
                </a:lnTo>
                <a:moveTo>
                  <a:pt x="0" y="1856678"/>
                </a:moveTo>
                <a:lnTo>
                  <a:pt x="0" y="0"/>
                </a:lnTo>
                <a:moveTo>
                  <a:pt x="2207941" y="1856678"/>
                </a:moveTo>
                <a:lnTo>
                  <a:pt x="2207941" y="1873404"/>
                </a:lnTo>
                <a:cubicBezTo>
                  <a:pt x="2207941" y="1947309"/>
                  <a:pt x="2139767" y="2007219"/>
                  <a:pt x="2055669" y="2007219"/>
                </a:cubicBezTo>
                <a:lnTo>
                  <a:pt x="152271" y="2007219"/>
                </a:lnTo>
                <a:cubicBezTo>
                  <a:pt x="68174" y="2007219"/>
                  <a:pt x="0" y="1947309"/>
                  <a:pt x="0" y="1873404"/>
                </a:cubicBezTo>
                <a:lnTo>
                  <a:pt x="0" y="1856678"/>
                </a:lnTo>
              </a:path>
            </a:pathLst>
          </a:custGeom>
          <a:noFill/>
          <a:ln w="1254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77053" y="3303548"/>
            <a:ext cx="2207941" cy="2007219"/>
          </a:xfrm>
          <a:custGeom>
            <a:avLst/>
            <a:gdLst/>
            <a:ahLst/>
            <a:cxnLst/>
            <a:rect l="0" t="0" r="0" b="0"/>
            <a:pathLst>
              <a:path w="2207941" h="2007219">
                <a:moveTo>
                  <a:pt x="2207941" y="0"/>
                </a:moveTo>
                <a:lnTo>
                  <a:pt x="2207941" y="1856678"/>
                </a:lnTo>
                <a:moveTo>
                  <a:pt x="0" y="1856678"/>
                </a:moveTo>
                <a:lnTo>
                  <a:pt x="0" y="0"/>
                </a:lnTo>
                <a:moveTo>
                  <a:pt x="2207941" y="1856678"/>
                </a:moveTo>
                <a:lnTo>
                  <a:pt x="2207941" y="1873404"/>
                </a:lnTo>
                <a:cubicBezTo>
                  <a:pt x="2207941" y="1947309"/>
                  <a:pt x="2139767" y="2007219"/>
                  <a:pt x="2055669" y="2007219"/>
                </a:cubicBezTo>
                <a:lnTo>
                  <a:pt x="152271" y="2007219"/>
                </a:lnTo>
                <a:cubicBezTo>
                  <a:pt x="68174" y="2007219"/>
                  <a:pt x="0" y="1947309"/>
                  <a:pt x="0" y="1873404"/>
                </a:cubicBezTo>
                <a:lnTo>
                  <a:pt x="0" y="1856678"/>
                </a:lnTo>
              </a:path>
            </a:pathLst>
          </a:custGeom>
          <a:noFill/>
          <a:ln w="1254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93511" y="1296328"/>
            <a:ext cx="2756977" cy="2509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FEASIBILITY &amp; VIABILITY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9074" y="2688837"/>
            <a:ext cx="121666" cy="225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4E88E7"/>
                </a:solidFill>
                <a:latin typeface="Roboto"/>
              </a:rPr>
              <a:t>1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828800" y="2525750"/>
            <a:ext cx="937538" cy="401442"/>
            <a:chOff x="1371600" y="1630865"/>
            <a:chExt cx="937538" cy="401442"/>
          </a:xfrm>
        </p:grpSpPr>
        <p:sp>
          <p:nvSpPr>
            <p:cNvPr id="29" name="TextBox 28"/>
            <p:cNvSpPr txBox="1"/>
            <p:nvPr/>
          </p:nvSpPr>
          <p:spPr>
            <a:xfrm>
              <a:off x="1371600" y="1630865"/>
              <a:ext cx="1078168" cy="200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E88E7"/>
                  </a:solidFill>
                  <a:latin typeface="Roboto"/>
                </a:rPr>
                <a:t>TECHNICAL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371600" y="1831586"/>
              <a:ext cx="1078168" cy="200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E88E7"/>
                  </a:solidFill>
                  <a:latin typeface="Roboto"/>
                </a:rPr>
                <a:t>FEASIBILITY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658099" y="2688837"/>
            <a:ext cx="121666" cy="225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BA5DE5"/>
                </a:solidFill>
                <a:latin typeface="Roboto"/>
              </a:rPr>
              <a:t>2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337824" y="2525750"/>
            <a:ext cx="1103343" cy="401442"/>
            <a:chOff x="3880624" y="1630865"/>
            <a:chExt cx="1103343" cy="401442"/>
          </a:xfrm>
        </p:grpSpPr>
        <p:sp>
          <p:nvSpPr>
            <p:cNvPr id="33" name="TextBox 32"/>
            <p:cNvSpPr txBox="1"/>
            <p:nvPr/>
          </p:nvSpPr>
          <p:spPr>
            <a:xfrm>
              <a:off x="3880624" y="1630865"/>
              <a:ext cx="1268844" cy="200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BA5DE5"/>
                  </a:solidFill>
                  <a:latin typeface="Roboto"/>
                </a:rPr>
                <a:t>DEPLOYMENT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80624" y="1831586"/>
              <a:ext cx="1268844" cy="200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BA5DE5"/>
                  </a:solidFill>
                  <a:latin typeface="Roboto"/>
                </a:rPr>
                <a:t>VIABILITY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167123" y="2688837"/>
            <a:ext cx="121666" cy="2258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DE58A9"/>
                </a:solidFill>
                <a:latin typeface="Roboto"/>
              </a:rPr>
              <a:t>3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846848" y="2525750"/>
            <a:ext cx="1002564" cy="401442"/>
            <a:chOff x="6389648" y="1630865"/>
            <a:chExt cx="1002564" cy="401442"/>
          </a:xfrm>
        </p:grpSpPr>
        <p:sp>
          <p:nvSpPr>
            <p:cNvPr id="37" name="TextBox 36"/>
            <p:cNvSpPr txBox="1"/>
            <p:nvPr/>
          </p:nvSpPr>
          <p:spPr>
            <a:xfrm>
              <a:off x="6389648" y="1630865"/>
              <a:ext cx="1152948" cy="200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E58A9"/>
                  </a:solidFill>
                  <a:latin typeface="Roboto"/>
                </a:rPr>
                <a:t>COST &amp;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89648" y="1831586"/>
              <a:ext cx="1152948" cy="200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DE58A9"/>
                  </a:solidFill>
                  <a:latin typeface="Roboto"/>
                </a:rPr>
                <a:t>SCALABILITY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112368" y="3403909"/>
            <a:ext cx="1901213" cy="1655955"/>
            <a:chOff x="655168" y="2509024"/>
            <a:chExt cx="1901213" cy="1655955"/>
          </a:xfrm>
        </p:grpSpPr>
        <p:sp>
          <p:nvSpPr>
            <p:cNvPr id="40" name="TextBox 39"/>
            <p:cNvSpPr txBox="1"/>
            <p:nvPr/>
          </p:nvSpPr>
          <p:spPr>
            <a:xfrm>
              <a:off x="655168" y="2509024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Built around existing IP-based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5168" y="2659565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CCTV. Feasible: Standard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55168" y="2810106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RTSP/H.264 video streams,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5168" y="2960648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lightweight AI/CV processing, GIS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5168" y="3111189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point-in-polygon logic, real-time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5168" y="3261731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alert generation. Risk: Low light,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5168" y="3412272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camera angle, blur, occlusion,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55168" y="3562814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complex scenes. Mitigation: Use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55168" y="3713355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YOLOv8n, add low-light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55168" y="3863897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enhancement, use GIS/context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5168" y="4014438"/>
              <a:ext cx="218639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validation.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577276" y="3403909"/>
            <a:ext cx="1989447" cy="1505413"/>
            <a:chOff x="3120076" y="2509024"/>
            <a:chExt cx="1989447" cy="1505413"/>
          </a:xfrm>
        </p:grpSpPr>
        <p:sp>
          <p:nvSpPr>
            <p:cNvPr id="52" name="TextBox 51"/>
            <p:cNvSpPr txBox="1"/>
            <p:nvPr/>
          </p:nvSpPr>
          <p:spPr>
            <a:xfrm>
              <a:off x="3120076" y="2509024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Two-tier architecture for different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120076" y="2659565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border environments. Feasible: Tier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120076" y="2810106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1 powered locations, Tier 2 remote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20076" y="2960648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locations. Risk: Limited power,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120076" y="3111189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connectivity, and edge compute.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120076" y="3261731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Mitigation: Sensor-triggered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120076" y="3412272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processing, lightweight models,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120076" y="3562814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periodic low-bandwidth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120076" y="3713355"/>
              <a:ext cx="2287864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synchronization, shared alert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120076" y="3863897"/>
              <a:ext cx="2287864" cy="150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architecture.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117349" y="3403909"/>
            <a:ext cx="1927348" cy="1655955"/>
            <a:chOff x="5660149" y="2509024"/>
            <a:chExt cx="1927348" cy="1655955"/>
          </a:xfrm>
        </p:grpSpPr>
        <p:sp>
          <p:nvSpPr>
            <p:cNvPr id="63" name="TextBox 62"/>
            <p:cNvSpPr txBox="1"/>
            <p:nvPr/>
          </p:nvSpPr>
          <p:spPr>
            <a:xfrm>
              <a:off x="5660149" y="2509024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Software-first deployment.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660149" y="2659565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Feasible: Reuses existing CCTV,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660149" y="2810106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avoids mandatory dedicated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660149" y="2960648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hardware, lightweight processing,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660149" y="3111189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modular architecture. Risk: Higher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660149" y="3261731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compute requirements, increasing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660149" y="3412272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video-processing load,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660149" y="3562814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heterogeneous infrastructure.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660149" y="3713355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Mitigation: Lightweight AI models,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660149" y="3863897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modular analytics, shared alert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660149" y="4014438"/>
              <a:ext cx="2216450" cy="150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84848"/>
                  </a:solidFill>
                  <a:latin typeface="Roboto"/>
                </a:rPr>
                <a:t>architecture, two-tier design.</a:t>
              </a:r>
            </a:p>
          </p:txBody>
        </p:sp>
      </p:grpSp>
      <p:sp>
        <p:nvSpPr>
          <p:cNvPr id="75" name="Rounded Rectangle 74"/>
          <p:cNvSpPr/>
          <p:nvPr/>
        </p:nvSpPr>
        <p:spPr>
          <a:xfrm>
            <a:off x="7582829" y="5687087"/>
            <a:ext cx="900254" cy="100692"/>
          </a:xfrm>
          <a:custGeom>
            <a:avLst/>
            <a:gdLst/>
            <a:ahLst/>
            <a:cxnLst/>
            <a:rect l="0" t="0" r="0" b="0"/>
            <a:pathLst>
              <a:path w="900254" h="100692">
                <a:moveTo>
                  <a:pt x="512535" y="98362"/>
                </a:moveTo>
                <a:cubicBezTo>
                  <a:pt x="512807" y="99366"/>
                  <a:pt x="513595" y="100152"/>
                  <a:pt x="514600" y="100422"/>
                </a:cubicBezTo>
                <a:cubicBezTo>
                  <a:pt x="515604" y="100692"/>
                  <a:pt x="516680" y="100407"/>
                  <a:pt x="517419" y="99675"/>
                </a:cubicBezTo>
                <a:lnTo>
                  <a:pt x="560934" y="56679"/>
                </a:lnTo>
                <a:lnTo>
                  <a:pt x="509223" y="86143"/>
                </a:lnTo>
                <a:close/>
                <a:moveTo>
                  <a:pt x="494001" y="510"/>
                </a:moveTo>
                <a:cubicBezTo>
                  <a:pt x="493096" y="0"/>
                  <a:pt x="491984" y="8"/>
                  <a:pt x="491086" y="532"/>
                </a:cubicBezTo>
                <a:cubicBezTo>
                  <a:pt x="490188" y="1057"/>
                  <a:pt x="489635" y="2022"/>
                  <a:pt x="489636" y="3061"/>
                </a:cubicBezTo>
                <a:lnTo>
                  <a:pt x="489636" y="29080"/>
                </a:lnTo>
                <a:lnTo>
                  <a:pt x="517034" y="13457"/>
                </a:lnTo>
                <a:close/>
                <a:moveTo>
                  <a:pt x="525180" y="18115"/>
                </a:moveTo>
                <a:lnTo>
                  <a:pt x="489636" y="38363"/>
                </a:lnTo>
                <a:lnTo>
                  <a:pt x="489636" y="58812"/>
                </a:lnTo>
                <a:lnTo>
                  <a:pt x="543086" y="28335"/>
                </a:lnTo>
                <a:close/>
                <a:moveTo>
                  <a:pt x="564555" y="45740"/>
                </a:moveTo>
                <a:cubicBezTo>
                  <a:pt x="565471" y="45221"/>
                  <a:pt x="566039" y="44246"/>
                  <a:pt x="566039" y="43193"/>
                </a:cubicBezTo>
                <a:cubicBezTo>
                  <a:pt x="566039" y="42140"/>
                  <a:pt x="565471" y="41166"/>
                  <a:pt x="564555" y="40646"/>
                </a:cubicBezTo>
                <a:lnTo>
                  <a:pt x="551241" y="33119"/>
                </a:lnTo>
                <a:lnTo>
                  <a:pt x="489644" y="68237"/>
                </a:lnTo>
                <a:lnTo>
                  <a:pt x="489644" y="83141"/>
                </a:lnTo>
                <a:cubicBezTo>
                  <a:pt x="489642" y="84183"/>
                  <a:pt x="490196" y="85151"/>
                  <a:pt x="491097" y="85676"/>
                </a:cubicBezTo>
                <a:cubicBezTo>
                  <a:pt x="491997" y="86201"/>
                  <a:pt x="493112" y="86207"/>
                  <a:pt x="494018" y="85692"/>
                </a:cubicBezTo>
                <a:lnTo>
                  <a:pt x="564563" y="45740"/>
                </a:lnTo>
                <a:close/>
                <a:moveTo>
                  <a:pt x="339069" y="12688"/>
                </a:moveTo>
                <a:cubicBezTo>
                  <a:pt x="339069" y="9066"/>
                  <a:pt x="342038" y="6139"/>
                  <a:pt x="345693" y="6139"/>
                </a:cubicBezTo>
                <a:cubicBezTo>
                  <a:pt x="349348" y="6139"/>
                  <a:pt x="352317" y="9066"/>
                  <a:pt x="352317" y="12688"/>
                </a:cubicBezTo>
                <a:cubicBezTo>
                  <a:pt x="352317" y="16309"/>
                  <a:pt x="349348" y="19236"/>
                  <a:pt x="345693" y="19236"/>
                </a:cubicBezTo>
                <a:cubicBezTo>
                  <a:pt x="342038" y="19236"/>
                  <a:pt x="339069" y="16309"/>
                  <a:pt x="339069" y="12688"/>
                </a:cubicBezTo>
                <a:close/>
                <a:moveTo>
                  <a:pt x="833941" y="12688"/>
                </a:moveTo>
                <a:cubicBezTo>
                  <a:pt x="833941" y="9066"/>
                  <a:pt x="836910" y="6139"/>
                  <a:pt x="840564" y="6139"/>
                </a:cubicBezTo>
                <a:cubicBezTo>
                  <a:pt x="844219" y="6139"/>
                  <a:pt x="847188" y="9066"/>
                  <a:pt x="847188" y="12688"/>
                </a:cubicBezTo>
                <a:cubicBezTo>
                  <a:pt x="847188" y="16309"/>
                  <a:pt x="844219" y="19236"/>
                  <a:pt x="840564" y="19236"/>
                </a:cubicBezTo>
                <a:cubicBezTo>
                  <a:pt x="836910" y="19236"/>
                  <a:pt x="833941" y="16309"/>
                  <a:pt x="833941" y="12688"/>
                </a:cubicBezTo>
                <a:close/>
                <a:moveTo>
                  <a:pt x="115097" y="76551"/>
                </a:moveTo>
                <a:lnTo>
                  <a:pt x="104475" y="76551"/>
                </a:lnTo>
                <a:lnTo>
                  <a:pt x="104475" y="72478"/>
                </a:lnTo>
                <a:cubicBezTo>
                  <a:pt x="102167" y="74159"/>
                  <a:pt x="97249" y="77571"/>
                  <a:pt x="88744" y="77571"/>
                </a:cubicBezTo>
                <a:cubicBezTo>
                  <a:pt x="78691" y="77571"/>
                  <a:pt x="69725" y="70930"/>
                  <a:pt x="70871" y="60192"/>
                </a:cubicBezTo>
                <a:cubicBezTo>
                  <a:pt x="71858" y="50942"/>
                  <a:pt x="80514" y="46944"/>
                  <a:pt x="86327" y="45748"/>
                </a:cubicBezTo>
                <a:lnTo>
                  <a:pt x="104475" y="42863"/>
                </a:lnTo>
                <a:cubicBezTo>
                  <a:pt x="104475" y="38355"/>
                  <a:pt x="102050" y="34867"/>
                  <a:pt x="95577" y="34449"/>
                </a:cubicBezTo>
                <a:cubicBezTo>
                  <a:pt x="89103" y="34031"/>
                  <a:pt x="85457" y="37000"/>
                  <a:pt x="82438" y="42955"/>
                </a:cubicBezTo>
                <a:lnTo>
                  <a:pt x="73037" y="37895"/>
                </a:lnTo>
                <a:cubicBezTo>
                  <a:pt x="83224" y="15891"/>
                  <a:pt x="115097" y="23142"/>
                  <a:pt x="115097" y="41357"/>
                </a:cubicBezTo>
                <a:lnTo>
                  <a:pt x="115097" y="76542"/>
                </a:lnTo>
                <a:close/>
                <a:moveTo>
                  <a:pt x="104475" y="52631"/>
                </a:moveTo>
                <a:lnTo>
                  <a:pt x="89287" y="55115"/>
                </a:lnTo>
                <a:cubicBezTo>
                  <a:pt x="85566" y="56010"/>
                  <a:pt x="81300" y="57984"/>
                  <a:pt x="81710" y="62625"/>
                </a:cubicBezTo>
                <a:cubicBezTo>
                  <a:pt x="82229" y="68430"/>
                  <a:pt x="92716" y="69023"/>
                  <a:pt x="97626" y="65929"/>
                </a:cubicBezTo>
                <a:cubicBezTo>
                  <a:pt x="103957" y="61931"/>
                  <a:pt x="104525" y="55943"/>
                  <a:pt x="104475" y="52631"/>
                </a:cubicBezTo>
                <a:close/>
                <a:moveTo>
                  <a:pt x="712178" y="76551"/>
                </a:moveTo>
                <a:lnTo>
                  <a:pt x="701556" y="76551"/>
                </a:lnTo>
                <a:lnTo>
                  <a:pt x="701556" y="72478"/>
                </a:lnTo>
                <a:cubicBezTo>
                  <a:pt x="699248" y="74159"/>
                  <a:pt x="694330" y="77571"/>
                  <a:pt x="685825" y="77571"/>
                </a:cubicBezTo>
                <a:cubicBezTo>
                  <a:pt x="675772" y="77571"/>
                  <a:pt x="666806" y="70930"/>
                  <a:pt x="667952" y="60192"/>
                </a:cubicBezTo>
                <a:cubicBezTo>
                  <a:pt x="668939" y="50942"/>
                  <a:pt x="677595" y="46944"/>
                  <a:pt x="683408" y="45748"/>
                </a:cubicBezTo>
                <a:lnTo>
                  <a:pt x="701556" y="42863"/>
                </a:lnTo>
                <a:cubicBezTo>
                  <a:pt x="701556" y="38355"/>
                  <a:pt x="699131" y="34867"/>
                  <a:pt x="692658" y="34449"/>
                </a:cubicBezTo>
                <a:cubicBezTo>
                  <a:pt x="686184" y="34031"/>
                  <a:pt x="682538" y="37000"/>
                  <a:pt x="679519" y="42955"/>
                </a:cubicBezTo>
                <a:lnTo>
                  <a:pt x="670118" y="37895"/>
                </a:lnTo>
                <a:cubicBezTo>
                  <a:pt x="680305" y="15891"/>
                  <a:pt x="712178" y="23142"/>
                  <a:pt x="712178" y="41357"/>
                </a:cubicBezTo>
                <a:lnTo>
                  <a:pt x="712178" y="76542"/>
                </a:lnTo>
                <a:close/>
                <a:moveTo>
                  <a:pt x="701556" y="52631"/>
                </a:moveTo>
                <a:lnTo>
                  <a:pt x="701548" y="52631"/>
                </a:lnTo>
                <a:lnTo>
                  <a:pt x="686360" y="55115"/>
                </a:lnTo>
                <a:cubicBezTo>
                  <a:pt x="682638" y="56010"/>
                  <a:pt x="678373" y="57984"/>
                  <a:pt x="678783" y="62625"/>
                </a:cubicBezTo>
                <a:cubicBezTo>
                  <a:pt x="679301" y="68430"/>
                  <a:pt x="689789" y="69023"/>
                  <a:pt x="694698" y="65929"/>
                </a:cubicBezTo>
                <a:cubicBezTo>
                  <a:pt x="701038" y="61931"/>
                  <a:pt x="701606" y="55943"/>
                  <a:pt x="701556" y="52631"/>
                </a:cubicBezTo>
                <a:close/>
                <a:moveTo>
                  <a:pt x="795327" y="76551"/>
                </a:moveTo>
                <a:lnTo>
                  <a:pt x="784906" y="76551"/>
                </a:lnTo>
                <a:lnTo>
                  <a:pt x="784906" y="5880"/>
                </a:lnTo>
                <a:lnTo>
                  <a:pt x="795327" y="5880"/>
                </a:lnTo>
                <a:lnTo>
                  <a:pt x="795327" y="46819"/>
                </a:lnTo>
                <a:lnTo>
                  <a:pt x="817741" y="25417"/>
                </a:lnTo>
                <a:lnTo>
                  <a:pt x="832276" y="25417"/>
                </a:lnTo>
                <a:lnTo>
                  <a:pt x="810255" y="46618"/>
                </a:lnTo>
                <a:lnTo>
                  <a:pt x="832962" y="76542"/>
                </a:lnTo>
                <a:lnTo>
                  <a:pt x="819949" y="76542"/>
                </a:lnTo>
                <a:lnTo>
                  <a:pt x="802578" y="53902"/>
                </a:lnTo>
                <a:lnTo>
                  <a:pt x="795327" y="60961"/>
                </a:lnTo>
                <a:lnTo>
                  <a:pt x="795327" y="76542"/>
                </a:lnTo>
                <a:close/>
                <a:moveTo>
                  <a:pt x="845951" y="25417"/>
                </a:moveTo>
                <a:lnTo>
                  <a:pt x="835454" y="25417"/>
                </a:lnTo>
                <a:lnTo>
                  <a:pt x="835454" y="76542"/>
                </a:lnTo>
                <a:lnTo>
                  <a:pt x="845951" y="76542"/>
                </a:lnTo>
                <a:close/>
                <a:moveTo>
                  <a:pt x="350836" y="25417"/>
                </a:moveTo>
                <a:lnTo>
                  <a:pt x="340340" y="25417"/>
                </a:lnTo>
                <a:lnTo>
                  <a:pt x="340340" y="76542"/>
                </a:lnTo>
                <a:lnTo>
                  <a:pt x="350836" y="76542"/>
                </a:lnTo>
                <a:close/>
                <a:moveTo>
                  <a:pt x="397538" y="76542"/>
                </a:moveTo>
                <a:lnTo>
                  <a:pt x="397538" y="5863"/>
                </a:lnTo>
                <a:lnTo>
                  <a:pt x="408034" y="5863"/>
                </a:lnTo>
                <a:lnTo>
                  <a:pt x="408034" y="28402"/>
                </a:lnTo>
                <a:cubicBezTo>
                  <a:pt x="411053" y="25509"/>
                  <a:pt x="416397" y="24346"/>
                  <a:pt x="420328" y="24346"/>
                </a:cubicBezTo>
                <a:cubicBezTo>
                  <a:pt x="432472" y="24346"/>
                  <a:pt x="441044" y="33395"/>
                  <a:pt x="440877" y="44820"/>
                </a:cubicBezTo>
                <a:lnTo>
                  <a:pt x="440877" y="76534"/>
                </a:lnTo>
                <a:lnTo>
                  <a:pt x="430255" y="76534"/>
                </a:lnTo>
                <a:lnTo>
                  <a:pt x="430255" y="45756"/>
                </a:lnTo>
                <a:cubicBezTo>
                  <a:pt x="430255" y="42344"/>
                  <a:pt x="428466" y="34558"/>
                  <a:pt x="419257" y="34558"/>
                </a:cubicBezTo>
                <a:cubicBezTo>
                  <a:pt x="411162" y="34558"/>
                  <a:pt x="408034" y="40881"/>
                  <a:pt x="408034" y="45756"/>
                </a:cubicBezTo>
                <a:lnTo>
                  <a:pt x="408034" y="76542"/>
                </a:lnTo>
                <a:close/>
                <a:moveTo>
                  <a:pt x="357728" y="35612"/>
                </a:moveTo>
                <a:lnTo>
                  <a:pt x="357728" y="25450"/>
                </a:lnTo>
                <a:lnTo>
                  <a:pt x="362922" y="25450"/>
                </a:lnTo>
                <a:cubicBezTo>
                  <a:pt x="363919" y="25450"/>
                  <a:pt x="364877" y="25053"/>
                  <a:pt x="365583" y="24348"/>
                </a:cubicBezTo>
                <a:cubicBezTo>
                  <a:pt x="366288" y="23642"/>
                  <a:pt x="366685" y="22684"/>
                  <a:pt x="366685" y="21687"/>
                </a:cubicBezTo>
                <a:lnTo>
                  <a:pt x="366685" y="14536"/>
                </a:lnTo>
                <a:lnTo>
                  <a:pt x="377148" y="14536"/>
                </a:lnTo>
                <a:lnTo>
                  <a:pt x="377148" y="25450"/>
                </a:lnTo>
                <a:lnTo>
                  <a:pt x="388095" y="25450"/>
                </a:lnTo>
                <a:lnTo>
                  <a:pt x="388095" y="35612"/>
                </a:lnTo>
                <a:lnTo>
                  <a:pt x="377148" y="35612"/>
                </a:lnTo>
                <a:lnTo>
                  <a:pt x="377148" y="61614"/>
                </a:lnTo>
                <a:cubicBezTo>
                  <a:pt x="377148" y="64064"/>
                  <a:pt x="378026" y="67167"/>
                  <a:pt x="382567" y="67167"/>
                </a:cubicBezTo>
                <a:cubicBezTo>
                  <a:pt x="385620" y="67167"/>
                  <a:pt x="387008" y="66874"/>
                  <a:pt x="388723" y="66581"/>
                </a:cubicBezTo>
                <a:lnTo>
                  <a:pt x="388723" y="76091"/>
                </a:lnTo>
                <a:cubicBezTo>
                  <a:pt x="388723" y="76091"/>
                  <a:pt x="385703" y="77036"/>
                  <a:pt x="381555" y="77036"/>
                </a:cubicBezTo>
                <a:cubicBezTo>
                  <a:pt x="369863" y="77036"/>
                  <a:pt x="366693" y="68246"/>
                  <a:pt x="366693" y="62082"/>
                </a:cubicBezTo>
                <a:lnTo>
                  <a:pt x="366693" y="35612"/>
                </a:lnTo>
                <a:lnTo>
                  <a:pt x="357736" y="35612"/>
                </a:lnTo>
                <a:close/>
                <a:moveTo>
                  <a:pt x="272045" y="25450"/>
                </a:moveTo>
                <a:lnTo>
                  <a:pt x="260386" y="25450"/>
                </a:lnTo>
                <a:lnTo>
                  <a:pt x="278710" y="76517"/>
                </a:lnTo>
                <a:lnTo>
                  <a:pt x="288119" y="76517"/>
                </a:lnTo>
                <a:lnTo>
                  <a:pt x="298440" y="43749"/>
                </a:lnTo>
                <a:lnTo>
                  <a:pt x="308793" y="76517"/>
                </a:lnTo>
                <a:lnTo>
                  <a:pt x="318236" y="76517"/>
                </a:lnTo>
                <a:lnTo>
                  <a:pt x="336535" y="25450"/>
                </a:lnTo>
                <a:lnTo>
                  <a:pt x="324968" y="25450"/>
                </a:lnTo>
                <a:lnTo>
                  <a:pt x="313602" y="58318"/>
                </a:lnTo>
                <a:lnTo>
                  <a:pt x="303098" y="25450"/>
                </a:lnTo>
                <a:lnTo>
                  <a:pt x="293698" y="25450"/>
                </a:lnTo>
                <a:lnTo>
                  <a:pt x="283310" y="58544"/>
                </a:lnTo>
                <a:lnTo>
                  <a:pt x="272036" y="25450"/>
                </a:lnTo>
                <a:close/>
                <a:moveTo>
                  <a:pt x="185768" y="51393"/>
                </a:moveTo>
                <a:cubicBezTo>
                  <a:pt x="185600" y="64491"/>
                  <a:pt x="195695" y="77563"/>
                  <a:pt x="212723" y="77563"/>
                </a:cubicBezTo>
                <a:cubicBezTo>
                  <a:pt x="225820" y="77563"/>
                  <a:pt x="232653" y="69885"/>
                  <a:pt x="235589" y="63186"/>
                </a:cubicBezTo>
                <a:lnTo>
                  <a:pt x="227250" y="58578"/>
                </a:lnTo>
                <a:cubicBezTo>
                  <a:pt x="224616" y="61915"/>
                  <a:pt x="220551" y="67727"/>
                  <a:pt x="212715" y="67727"/>
                </a:cubicBezTo>
                <a:cubicBezTo>
                  <a:pt x="203138" y="67727"/>
                  <a:pt x="197451" y="61195"/>
                  <a:pt x="196899" y="55015"/>
                </a:cubicBezTo>
                <a:lnTo>
                  <a:pt x="235580" y="55015"/>
                </a:lnTo>
                <a:cubicBezTo>
                  <a:pt x="236199" y="52640"/>
                  <a:pt x="236818" y="46693"/>
                  <a:pt x="235329" y="41976"/>
                </a:cubicBezTo>
                <a:cubicBezTo>
                  <a:pt x="232519" y="33078"/>
                  <a:pt x="225118" y="24396"/>
                  <a:pt x="211586" y="24396"/>
                </a:cubicBezTo>
                <a:cubicBezTo>
                  <a:pt x="198054" y="24396"/>
                  <a:pt x="185759" y="34031"/>
                  <a:pt x="185759" y="51385"/>
                </a:cubicBezTo>
                <a:close/>
                <a:moveTo>
                  <a:pt x="197167" y="45121"/>
                </a:moveTo>
                <a:cubicBezTo>
                  <a:pt x="198993" y="38693"/>
                  <a:pt x="204911" y="34229"/>
                  <a:pt x="211594" y="34240"/>
                </a:cubicBezTo>
                <a:cubicBezTo>
                  <a:pt x="220434" y="34240"/>
                  <a:pt x="224708" y="41525"/>
                  <a:pt x="225168" y="45121"/>
                </a:cubicBezTo>
                <a:close/>
                <a:moveTo>
                  <a:pt x="123920" y="51393"/>
                </a:moveTo>
                <a:cubicBezTo>
                  <a:pt x="124238" y="66096"/>
                  <a:pt x="134600" y="77596"/>
                  <a:pt x="150223" y="77596"/>
                </a:cubicBezTo>
                <a:cubicBezTo>
                  <a:pt x="159205" y="77596"/>
                  <a:pt x="164633" y="73607"/>
                  <a:pt x="166624" y="71976"/>
                </a:cubicBezTo>
                <a:lnTo>
                  <a:pt x="166624" y="76551"/>
                </a:lnTo>
                <a:lnTo>
                  <a:pt x="177011" y="76551"/>
                </a:lnTo>
                <a:lnTo>
                  <a:pt x="177011" y="5913"/>
                </a:lnTo>
                <a:lnTo>
                  <a:pt x="166490" y="5913"/>
                </a:lnTo>
                <a:lnTo>
                  <a:pt x="166490" y="30067"/>
                </a:lnTo>
                <a:cubicBezTo>
                  <a:pt x="163028" y="27056"/>
                  <a:pt x="157608" y="24380"/>
                  <a:pt x="150349" y="24380"/>
                </a:cubicBezTo>
                <a:cubicBezTo>
                  <a:pt x="134374" y="24380"/>
                  <a:pt x="123602" y="36699"/>
                  <a:pt x="123920" y="51393"/>
                </a:cubicBezTo>
                <a:close/>
                <a:moveTo>
                  <a:pt x="134868" y="50724"/>
                </a:moveTo>
                <a:lnTo>
                  <a:pt x="134860" y="50724"/>
                </a:lnTo>
                <a:cubicBezTo>
                  <a:pt x="134860" y="41374"/>
                  <a:pt x="141918" y="34700"/>
                  <a:pt x="149956" y="34700"/>
                </a:cubicBezTo>
                <a:cubicBezTo>
                  <a:pt x="157993" y="34700"/>
                  <a:pt x="166448" y="39877"/>
                  <a:pt x="166448" y="51343"/>
                </a:cubicBezTo>
                <a:cubicBezTo>
                  <a:pt x="166505" y="55635"/>
                  <a:pt x="164803" y="59767"/>
                  <a:pt x="161740" y="62774"/>
                </a:cubicBezTo>
                <a:cubicBezTo>
                  <a:pt x="158677" y="65780"/>
                  <a:pt x="154513" y="67405"/>
                  <a:pt x="150223" y="67267"/>
                </a:cubicBezTo>
                <a:cubicBezTo>
                  <a:pt x="140915" y="67267"/>
                  <a:pt x="134868" y="60083"/>
                  <a:pt x="134868" y="50724"/>
                </a:cubicBezTo>
                <a:close/>
                <a:moveTo>
                  <a:pt x="776200" y="50490"/>
                </a:moveTo>
                <a:cubicBezTo>
                  <a:pt x="775882" y="35787"/>
                  <a:pt x="765520" y="24288"/>
                  <a:pt x="749897" y="24288"/>
                </a:cubicBezTo>
                <a:cubicBezTo>
                  <a:pt x="740914" y="24288"/>
                  <a:pt x="735487" y="28277"/>
                  <a:pt x="733496" y="29908"/>
                </a:cubicBezTo>
                <a:lnTo>
                  <a:pt x="733496" y="25333"/>
                </a:lnTo>
                <a:lnTo>
                  <a:pt x="723109" y="25333"/>
                </a:lnTo>
                <a:lnTo>
                  <a:pt x="723109" y="94080"/>
                </a:lnTo>
                <a:lnTo>
                  <a:pt x="733630" y="94080"/>
                </a:lnTo>
                <a:lnTo>
                  <a:pt x="733630" y="71817"/>
                </a:lnTo>
                <a:cubicBezTo>
                  <a:pt x="737092" y="74828"/>
                  <a:pt x="742520" y="77504"/>
                  <a:pt x="749771" y="77504"/>
                </a:cubicBezTo>
                <a:cubicBezTo>
                  <a:pt x="765745" y="77504"/>
                  <a:pt x="776517" y="65185"/>
                  <a:pt x="776200" y="50490"/>
                </a:cubicBezTo>
                <a:close/>
                <a:moveTo>
                  <a:pt x="765252" y="51159"/>
                </a:moveTo>
                <a:cubicBezTo>
                  <a:pt x="765252" y="60510"/>
                  <a:pt x="758202" y="67184"/>
                  <a:pt x="750164" y="67184"/>
                </a:cubicBezTo>
                <a:cubicBezTo>
                  <a:pt x="742127" y="67184"/>
                  <a:pt x="733672" y="62007"/>
                  <a:pt x="733672" y="50540"/>
                </a:cubicBezTo>
                <a:cubicBezTo>
                  <a:pt x="733615" y="46249"/>
                  <a:pt x="735317" y="42116"/>
                  <a:pt x="738380" y="39110"/>
                </a:cubicBezTo>
                <a:cubicBezTo>
                  <a:pt x="741443" y="36104"/>
                  <a:pt x="745607" y="34479"/>
                  <a:pt x="749897" y="34616"/>
                </a:cubicBezTo>
                <a:cubicBezTo>
                  <a:pt x="759205" y="34616"/>
                  <a:pt x="765252" y="41801"/>
                  <a:pt x="765252" y="51159"/>
                </a:cubicBezTo>
                <a:close/>
                <a:moveTo>
                  <a:pt x="856756" y="76751"/>
                </a:moveTo>
                <a:lnTo>
                  <a:pt x="856756" y="25425"/>
                </a:lnTo>
                <a:lnTo>
                  <a:pt x="867244" y="25425"/>
                </a:lnTo>
                <a:lnTo>
                  <a:pt x="867244" y="28620"/>
                </a:lnTo>
                <a:cubicBezTo>
                  <a:pt x="870263" y="25726"/>
                  <a:pt x="875607" y="24564"/>
                  <a:pt x="879538" y="24564"/>
                </a:cubicBezTo>
                <a:cubicBezTo>
                  <a:pt x="891682" y="24564"/>
                  <a:pt x="900254" y="33613"/>
                  <a:pt x="900087" y="45037"/>
                </a:cubicBezTo>
                <a:lnTo>
                  <a:pt x="900087" y="76751"/>
                </a:lnTo>
                <a:lnTo>
                  <a:pt x="889465" y="76751"/>
                </a:lnTo>
                <a:lnTo>
                  <a:pt x="889465" y="45966"/>
                </a:lnTo>
                <a:cubicBezTo>
                  <a:pt x="889465" y="42553"/>
                  <a:pt x="887676" y="34767"/>
                  <a:pt x="878467" y="34767"/>
                </a:cubicBezTo>
                <a:cubicBezTo>
                  <a:pt x="870363" y="34767"/>
                  <a:pt x="867244" y="41090"/>
                  <a:pt x="867244" y="45966"/>
                </a:cubicBezTo>
                <a:lnTo>
                  <a:pt x="867244" y="76751"/>
                </a:lnTo>
                <a:close/>
                <a:moveTo>
                  <a:pt x="602650" y="76576"/>
                </a:moveTo>
                <a:lnTo>
                  <a:pt x="602650" y="6925"/>
                </a:lnTo>
                <a:lnTo>
                  <a:pt x="611716" y="6925"/>
                </a:lnTo>
                <a:lnTo>
                  <a:pt x="646968" y="55241"/>
                </a:lnTo>
                <a:lnTo>
                  <a:pt x="646968" y="6925"/>
                </a:lnTo>
                <a:lnTo>
                  <a:pt x="658008" y="6925"/>
                </a:lnTo>
                <a:lnTo>
                  <a:pt x="658008" y="76576"/>
                </a:lnTo>
                <a:lnTo>
                  <a:pt x="648858" y="76576"/>
                </a:lnTo>
                <a:lnTo>
                  <a:pt x="613673" y="28101"/>
                </a:lnTo>
                <a:lnTo>
                  <a:pt x="613673" y="76576"/>
                </a:lnTo>
                <a:lnTo>
                  <a:pt x="602642" y="76576"/>
                </a:lnTo>
                <a:close/>
                <a:moveTo>
                  <a:pt x="10370" y="76551"/>
                </a:moveTo>
                <a:lnTo>
                  <a:pt x="0" y="76551"/>
                </a:lnTo>
                <a:lnTo>
                  <a:pt x="0" y="11550"/>
                </a:lnTo>
                <a:lnTo>
                  <a:pt x="8480" y="11550"/>
                </a:lnTo>
                <a:lnTo>
                  <a:pt x="30760" y="41633"/>
                </a:lnTo>
                <a:lnTo>
                  <a:pt x="52957" y="11592"/>
                </a:lnTo>
                <a:lnTo>
                  <a:pt x="61571" y="11592"/>
                </a:lnTo>
                <a:lnTo>
                  <a:pt x="61571" y="76542"/>
                </a:lnTo>
                <a:lnTo>
                  <a:pt x="51067" y="76542"/>
                </a:lnTo>
                <a:lnTo>
                  <a:pt x="51067" y="31497"/>
                </a:lnTo>
                <a:lnTo>
                  <a:pt x="30760" y="59146"/>
                </a:lnTo>
                <a:lnTo>
                  <a:pt x="10370" y="31330"/>
                </a:lnTo>
                <a:close/>
              </a:path>
            </a:pathLst>
          </a:custGeom>
          <a:solidFill>
            <a:srgbClr val="808080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